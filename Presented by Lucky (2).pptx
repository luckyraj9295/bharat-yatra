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8288000" cy="10287000"/>
  <p:notesSz cx="6858000" cy="9144000"/>
  <p:embeddedFontLst>
    <p:embeddedFont>
      <p:font typeface="HK Grotesk" panose="020B0604020202020204" charset="0"/>
      <p:regular r:id="rId13"/>
    </p:embeddedFont>
    <p:embeddedFont>
      <p:font typeface="HK Grotesk Bold" panose="020B0604020202020204" charset="0"/>
      <p:regular r:id="rId14"/>
    </p:embeddedFont>
    <p:embeddedFont>
      <p:font typeface="HK Grotesk Semi-Bold" panose="020B0604020202020204" charset="0"/>
      <p:regular r:id="rId15"/>
    </p:embeddedFont>
    <p:embeddedFont>
      <p:font typeface="Noto Serif Display ExtraCondensed Light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66750" y="1638300"/>
            <a:ext cx="6886575" cy="52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9"/>
              </a:lnSpc>
            </a:pPr>
            <a:r>
              <a:rPr lang="en-US" sz="3899" b="1" u="none" dirty="0">
                <a:solidFill>
                  <a:schemeClr val="accent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Bharat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66749" y="2180273"/>
            <a:ext cx="6886576" cy="7398333"/>
            <a:chOff x="-1" y="-5490209"/>
            <a:chExt cx="9182101" cy="9864444"/>
          </a:xfrm>
        </p:grpSpPr>
        <p:sp>
          <p:nvSpPr>
            <p:cNvPr id="6" name="TextBox 6"/>
            <p:cNvSpPr txBox="1"/>
            <p:nvPr/>
          </p:nvSpPr>
          <p:spPr>
            <a:xfrm>
              <a:off x="0" y="3794760"/>
              <a:ext cx="9182100" cy="579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 dirty="0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Project by </a:t>
              </a:r>
              <a:r>
                <a:rPr lang="en-US" sz="2799" dirty="0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Lucky</a:t>
              </a:r>
              <a:endParaRPr lang="en-US" sz="2799" u="none" dirty="0">
                <a:solidFill>
                  <a:srgbClr val="556B7A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1" y="-5490209"/>
              <a:ext cx="9182100" cy="24811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4400"/>
                </a:lnSpc>
              </a:pPr>
              <a:r>
                <a:rPr lang="en-US" sz="14400" spc="-288" dirty="0">
                  <a:solidFill>
                    <a:schemeClr val="accent6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Yatra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F1C3936-20B2-8A11-1546-EB1A888A11BF}"/>
              </a:ext>
            </a:extLst>
          </p:cNvPr>
          <p:cNvGrpSpPr/>
          <p:nvPr/>
        </p:nvGrpSpPr>
        <p:grpSpPr>
          <a:xfrm>
            <a:off x="9753600" y="609600"/>
            <a:ext cx="8324850" cy="8953500"/>
            <a:chOff x="0" y="0"/>
            <a:chExt cx="1066627" cy="1147174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B95D5C-EADE-0757-24E8-0CBE46A622B9}"/>
                </a:ext>
              </a:extLst>
            </p:cNvPr>
            <p:cNvSpPr/>
            <p:nvPr/>
          </p:nvSpPr>
          <p:spPr>
            <a:xfrm>
              <a:off x="0" y="0"/>
              <a:ext cx="1066627" cy="1147174"/>
            </a:xfrm>
            <a:custGeom>
              <a:avLst/>
              <a:gdLst/>
              <a:ahLst/>
              <a:cxnLst/>
              <a:rect l="l" t="t" r="r" b="b"/>
              <a:pathLst>
                <a:path w="1066627" h="1147174">
                  <a:moveTo>
                    <a:pt x="65098" y="0"/>
                  </a:moveTo>
                  <a:lnTo>
                    <a:pt x="1001529" y="0"/>
                  </a:lnTo>
                  <a:cubicBezTo>
                    <a:pt x="1018794" y="0"/>
                    <a:pt x="1035352" y="6859"/>
                    <a:pt x="1047561" y="19067"/>
                  </a:cubicBezTo>
                  <a:cubicBezTo>
                    <a:pt x="1059769" y="31275"/>
                    <a:pt x="1066627" y="47833"/>
                    <a:pt x="1066627" y="65098"/>
                  </a:cubicBezTo>
                  <a:lnTo>
                    <a:pt x="1066627" y="1082075"/>
                  </a:lnTo>
                  <a:cubicBezTo>
                    <a:pt x="1066627" y="1099340"/>
                    <a:pt x="1059769" y="1115898"/>
                    <a:pt x="1047561" y="1128107"/>
                  </a:cubicBezTo>
                  <a:cubicBezTo>
                    <a:pt x="1035352" y="1140315"/>
                    <a:pt x="1018794" y="1147174"/>
                    <a:pt x="1001529" y="1147174"/>
                  </a:cubicBezTo>
                  <a:lnTo>
                    <a:pt x="65098" y="1147174"/>
                  </a:lnTo>
                  <a:cubicBezTo>
                    <a:pt x="47833" y="1147174"/>
                    <a:pt x="31275" y="1140315"/>
                    <a:pt x="19067" y="1128107"/>
                  </a:cubicBezTo>
                  <a:cubicBezTo>
                    <a:pt x="6859" y="1115898"/>
                    <a:pt x="0" y="1099340"/>
                    <a:pt x="0" y="1082075"/>
                  </a:cubicBezTo>
                  <a:lnTo>
                    <a:pt x="0" y="65098"/>
                  </a:lnTo>
                  <a:cubicBezTo>
                    <a:pt x="0" y="47833"/>
                    <a:pt x="6859" y="31275"/>
                    <a:pt x="19067" y="19067"/>
                  </a:cubicBezTo>
                  <a:cubicBezTo>
                    <a:pt x="31275" y="6859"/>
                    <a:pt x="47833" y="0"/>
                    <a:pt x="65098" y="0"/>
                  </a:cubicBezTo>
                  <a:close/>
                </a:path>
              </a:pathLst>
            </a:custGeom>
            <a:blipFill>
              <a:blip r:embed="rId2"/>
              <a:stretch>
                <a:fillRect l="-280" r="-2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B9F3FAEF-EBD9-DD9A-84B8-FE42CEA6EB32}"/>
              </a:ext>
            </a:extLst>
          </p:cNvPr>
          <p:cNvSpPr/>
          <p:nvPr/>
        </p:nvSpPr>
        <p:spPr>
          <a:xfrm>
            <a:off x="16154400" y="8343900"/>
            <a:ext cx="1371600" cy="800100"/>
          </a:xfrm>
          <a:prstGeom prst="rect">
            <a:avLst/>
          </a:prstGeom>
          <a:solidFill>
            <a:srgbClr val="FFF4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0D781B2-8859-72D3-4170-17B788A6B6F0}"/>
              </a:ext>
            </a:extLst>
          </p:cNvPr>
          <p:cNvGrpSpPr/>
          <p:nvPr/>
        </p:nvGrpSpPr>
        <p:grpSpPr>
          <a:xfrm>
            <a:off x="6724650" y="6865896"/>
            <a:ext cx="2571750" cy="2278104"/>
            <a:chOff x="0" y="-57150"/>
            <a:chExt cx="677333" cy="599994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870B46A5-F7CA-0F3A-B918-7A35B9169A5B}"/>
                </a:ext>
              </a:extLst>
            </p:cNvPr>
            <p:cNvSpPr/>
            <p:nvPr/>
          </p:nvSpPr>
          <p:spPr>
            <a:xfrm>
              <a:off x="0" y="0"/>
              <a:ext cx="677333" cy="542844"/>
            </a:xfrm>
            <a:custGeom>
              <a:avLst/>
              <a:gdLst/>
              <a:ahLst/>
              <a:cxnLst/>
              <a:rect l="l" t="t" r="r" b="b"/>
              <a:pathLst>
                <a:path w="677333" h="542844">
                  <a:moveTo>
                    <a:pt x="120415" y="0"/>
                  </a:moveTo>
                  <a:lnTo>
                    <a:pt x="556919" y="0"/>
                  </a:lnTo>
                  <a:cubicBezTo>
                    <a:pt x="623422" y="0"/>
                    <a:pt x="677333" y="53912"/>
                    <a:pt x="677333" y="120415"/>
                  </a:cubicBezTo>
                  <a:lnTo>
                    <a:pt x="677333" y="422429"/>
                  </a:lnTo>
                  <a:cubicBezTo>
                    <a:pt x="677333" y="488933"/>
                    <a:pt x="623422" y="542844"/>
                    <a:pt x="556919" y="542844"/>
                  </a:cubicBezTo>
                  <a:lnTo>
                    <a:pt x="120415" y="542844"/>
                  </a:lnTo>
                  <a:cubicBezTo>
                    <a:pt x="88479" y="542844"/>
                    <a:pt x="57851" y="530158"/>
                    <a:pt x="35269" y="507576"/>
                  </a:cubicBezTo>
                  <a:cubicBezTo>
                    <a:pt x="12687" y="484993"/>
                    <a:pt x="0" y="454365"/>
                    <a:pt x="0" y="422429"/>
                  </a:cubicBezTo>
                  <a:lnTo>
                    <a:pt x="0" y="120415"/>
                  </a:lnTo>
                  <a:cubicBezTo>
                    <a:pt x="0" y="88479"/>
                    <a:pt x="12687" y="57851"/>
                    <a:pt x="35269" y="35269"/>
                  </a:cubicBezTo>
                  <a:cubicBezTo>
                    <a:pt x="57851" y="12687"/>
                    <a:pt x="88479" y="0"/>
                    <a:pt x="120415" y="0"/>
                  </a:cubicBezTo>
                  <a:close/>
                </a:path>
              </a:pathLst>
            </a:custGeom>
            <a:solidFill>
              <a:srgbClr val="004A9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2">
              <a:extLst>
                <a:ext uri="{FF2B5EF4-FFF2-40B4-BE49-F238E27FC236}">
                  <a16:creationId xmlns:a16="http://schemas.microsoft.com/office/drawing/2014/main" id="{27229059-5E63-7EE2-4E09-3E0FAB1B2937}"/>
                </a:ext>
              </a:extLst>
            </p:cNvPr>
            <p:cNvSpPr txBox="1"/>
            <p:nvPr/>
          </p:nvSpPr>
          <p:spPr>
            <a:xfrm>
              <a:off x="0" y="-57150"/>
              <a:ext cx="677333" cy="599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571D07D0-F874-A5B3-A0B1-4A33F0968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430" y="6865896"/>
            <a:ext cx="2716189" cy="27161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B800C8-0E13-A0EF-BD02-D44B6D3FE632}"/>
              </a:ext>
            </a:extLst>
          </p:cNvPr>
          <p:cNvSpPr txBox="1"/>
          <p:nvPr/>
        </p:nvSpPr>
        <p:spPr>
          <a:xfrm>
            <a:off x="15163800" y="9677400"/>
            <a:ext cx="2561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Batch – Cloud Computing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666750" y="1743920"/>
            <a:ext cx="6886575" cy="250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3178C6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Key Features of Bharat Yatra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296400" y="6934200"/>
            <a:ext cx="4010025" cy="1952625"/>
            <a:chOff x="0" y="0"/>
            <a:chExt cx="5346700" cy="2603500"/>
          </a:xfrm>
        </p:grpSpPr>
        <p:sp>
          <p:nvSpPr>
            <p:cNvPr id="8" name="TextBox 8"/>
            <p:cNvSpPr txBox="1"/>
            <p:nvPr/>
          </p:nvSpPr>
          <p:spPr>
            <a:xfrm>
              <a:off x="0" y="1193800"/>
              <a:ext cx="5346700" cy="1409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4"/>
                </a:lnSpc>
              </a:pPr>
              <a:r>
                <a:rPr lang="en-US" sz="2370" b="1" u="none" strike="noStrike">
                  <a:solidFill>
                    <a:srgbClr val="556B7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Seamless booking experience</a:t>
              </a:r>
              <a:r>
                <a:rPr lang="en-US" sz="2370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with personalized recommendations and updates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556B7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Key Features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0FFFD0A-30F0-6D58-6E37-3C582C7D31EA}"/>
              </a:ext>
            </a:extLst>
          </p:cNvPr>
          <p:cNvGrpSpPr/>
          <p:nvPr/>
        </p:nvGrpSpPr>
        <p:grpSpPr>
          <a:xfrm>
            <a:off x="8610600" y="803227"/>
            <a:ext cx="8391525" cy="6153151"/>
            <a:chOff x="0" y="0"/>
            <a:chExt cx="1512564" cy="1147174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AB7DD5A6-1CB0-679E-5D7A-F7229F0981B7}"/>
                </a:ext>
              </a:extLst>
            </p:cNvPr>
            <p:cNvSpPr/>
            <p:nvPr/>
          </p:nvSpPr>
          <p:spPr>
            <a:xfrm>
              <a:off x="0" y="0"/>
              <a:ext cx="1512564" cy="1147174"/>
            </a:xfrm>
            <a:custGeom>
              <a:avLst/>
              <a:gdLst/>
              <a:ahLst/>
              <a:cxnLst/>
              <a:rect l="l" t="t" r="r" b="b"/>
              <a:pathLst>
                <a:path w="1512564" h="1147174">
                  <a:moveTo>
                    <a:pt x="55508" y="0"/>
                  </a:moveTo>
                  <a:lnTo>
                    <a:pt x="1457055" y="0"/>
                  </a:lnTo>
                  <a:cubicBezTo>
                    <a:pt x="1487712" y="0"/>
                    <a:pt x="1512564" y="24852"/>
                    <a:pt x="1512564" y="55508"/>
                  </a:cubicBezTo>
                  <a:lnTo>
                    <a:pt x="1512564" y="1091665"/>
                  </a:lnTo>
                  <a:cubicBezTo>
                    <a:pt x="1512564" y="1122322"/>
                    <a:pt x="1487712" y="1147174"/>
                    <a:pt x="1457055" y="1147174"/>
                  </a:cubicBezTo>
                  <a:lnTo>
                    <a:pt x="55508" y="1147174"/>
                  </a:lnTo>
                  <a:cubicBezTo>
                    <a:pt x="24852" y="1147174"/>
                    <a:pt x="0" y="1122322"/>
                    <a:pt x="0" y="1091665"/>
                  </a:cubicBezTo>
                  <a:lnTo>
                    <a:pt x="0" y="55508"/>
                  </a:lnTo>
                  <a:cubicBezTo>
                    <a:pt x="0" y="24852"/>
                    <a:pt x="24852" y="0"/>
                    <a:pt x="55508" y="0"/>
                  </a:cubicBezTo>
                  <a:close/>
                </a:path>
              </a:pathLst>
            </a:custGeom>
            <a:blipFill>
              <a:blip r:embed="rId2"/>
              <a:stretch>
                <a:fillRect l="-61" r="-6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10CE8E09-8B9B-5449-982F-7F5AA4F777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705" y="2552700"/>
            <a:ext cx="4301314" cy="2505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58125" y="1743920"/>
            <a:ext cx="976312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3178C6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System Architecture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858125" y="4248150"/>
            <a:ext cx="9763125" cy="1619250"/>
            <a:chOff x="0" y="0"/>
            <a:chExt cx="13017500" cy="2159000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130175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3178C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Front-end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93800"/>
              <a:ext cx="130175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front-end utilizes </a:t>
              </a:r>
              <a:r>
                <a:rPr lang="en-US" sz="2400" b="1" u="none" strike="noStrike">
                  <a:solidFill>
                    <a:srgbClr val="556B7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HTML, CSS, and JavaScript</a:t>
              </a:r>
              <a:r>
                <a:rPr lang="en-US" sz="2400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to create a responsive user interface that enhances user interaction.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172950" y="6934200"/>
            <a:ext cx="4010025" cy="1981200"/>
            <a:chOff x="0" y="0"/>
            <a:chExt cx="5346700" cy="2641600"/>
          </a:xfrm>
        </p:grpSpPr>
        <p:sp>
          <p:nvSpPr>
            <p:cNvPr id="7" name="TextBox 7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>
                  <a:solidFill>
                    <a:srgbClr val="3178C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Database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93800"/>
              <a:ext cx="5346700" cy="1447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Utilizes </a:t>
              </a:r>
              <a:r>
                <a:rPr lang="en-US" sz="2400" b="1" u="none" strike="noStrike">
                  <a:solidFill>
                    <a:srgbClr val="556B7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MongoDB Atlas</a:t>
              </a:r>
              <a:r>
                <a:rPr lang="en-US" sz="2400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for scalable data storage and management.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58125" y="6934200"/>
            <a:ext cx="4010025" cy="1981200"/>
            <a:chOff x="0" y="0"/>
            <a:chExt cx="5346700" cy="264160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>
                  <a:solidFill>
                    <a:srgbClr val="3178C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Back-end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93800"/>
              <a:ext cx="5346700" cy="1447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Built with </a:t>
              </a:r>
              <a:r>
                <a:rPr lang="en-US" sz="2400" b="1" u="none" strike="noStrike">
                  <a:solidFill>
                    <a:srgbClr val="556B7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Java and Node.js</a:t>
              </a:r>
              <a:r>
                <a:rPr lang="en-US" sz="2400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for robust server-side functionality.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0" y="0"/>
            <a:ext cx="6115050" cy="10287000"/>
            <a:chOff x="0" y="0"/>
            <a:chExt cx="947381" cy="15937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2457450"/>
            <a:ext cx="9763125" cy="1618405"/>
            <a:chOff x="0" y="0"/>
            <a:chExt cx="13017500" cy="2157874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30175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3178C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Front-End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92674"/>
              <a:ext cx="130175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front-end is developed using </a:t>
              </a:r>
              <a:r>
                <a:rPr lang="en-US" sz="2400" b="1" u="none" strike="noStrike">
                  <a:solidFill>
                    <a:srgbClr val="556B7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HTML, CSS, and JavaScript</a:t>
              </a:r>
              <a:r>
                <a:rPr lang="en-US" sz="2400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providing a responsive and user-friendly interface for travelers.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58125" y="5143078"/>
            <a:ext cx="9763125" cy="1618828"/>
            <a:chOff x="0" y="0"/>
            <a:chExt cx="13017500" cy="2158437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130175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3178C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Back-End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93237"/>
              <a:ext cx="130175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back-end utilizes </a:t>
              </a:r>
              <a:r>
                <a:rPr lang="en-US" sz="2400" b="1" u="none" strike="noStrike">
                  <a:solidFill>
                    <a:srgbClr val="556B7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Java and Node.js</a:t>
              </a:r>
              <a:r>
                <a:rPr lang="en-US" sz="2400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to handle server operations, ensuring efficient data processing and application performance.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66750" y="1743920"/>
            <a:ext cx="5448300" cy="372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3178C6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Technology Stack Overview</a:t>
            </a:r>
          </a:p>
        </p:txBody>
      </p:sp>
      <p:sp>
        <p:nvSpPr>
          <p:cNvPr id="9" name="AutoShape 9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858125" y="1743075"/>
            <a:ext cx="976312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u="none" spc="-192">
                <a:solidFill>
                  <a:srgbClr val="3178C6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AI Chatbot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0" y="4248150"/>
            <a:ext cx="832485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556B7A"/>
                </a:solidFill>
                <a:latin typeface="HK Grotesk"/>
                <a:ea typeface="HK Grotesk"/>
                <a:cs typeface="HK Grotesk"/>
                <a:sym typeface="HK Grotesk"/>
              </a:rPr>
              <a:t>AI-powered travel assistance enhances user experience and satisfaction.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96400" y="6038850"/>
            <a:ext cx="832485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556B7A"/>
                </a:solidFill>
                <a:latin typeface="HK Grotesk"/>
                <a:ea typeface="HK Grotesk"/>
                <a:cs typeface="HK Grotesk"/>
                <a:sym typeface="HK Grotesk"/>
              </a:rPr>
              <a:t>Google Dialogflow integration provides seamless conversational interactions.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7829550"/>
            <a:ext cx="832485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556B7A"/>
                </a:solidFill>
                <a:latin typeface="HK Grotesk"/>
                <a:ea typeface="HK Grotesk"/>
                <a:cs typeface="HK Grotesk"/>
                <a:sym typeface="HK Grotesk"/>
              </a:rPr>
              <a:t>Natural language processing enables understanding of user queries effectively.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58125" y="4286250"/>
            <a:ext cx="1133475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3178C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8125" y="6076950"/>
            <a:ext cx="1133475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3178C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8125" y="7867650"/>
            <a:ext cx="1133475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3178C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115050" y="676275"/>
            <a:ext cx="1217295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6115050" y="9620250"/>
            <a:ext cx="1217295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A9C516-F1C9-480F-39AC-6E369B88C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87" y="2019300"/>
            <a:ext cx="3267075" cy="66360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8F94D94-E467-BC40-BCAD-D2B95D2924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9200" y="1707960"/>
            <a:ext cx="1282062" cy="128206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0"/>
            <a:ext cx="10429875" cy="10287000"/>
            <a:chOff x="0" y="0"/>
            <a:chExt cx="161586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" r="-2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666750" y="1743920"/>
            <a:ext cx="688657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3178C6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Project Timeline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6750" y="6191250"/>
            <a:ext cx="5448300" cy="253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556B7A"/>
                </a:solidFill>
                <a:latin typeface="HK Grotesk"/>
                <a:ea typeface="HK Grotesk"/>
                <a:cs typeface="HK Grotesk"/>
                <a:sym typeface="HK Grotesk"/>
              </a:rPr>
              <a:t>The project timeline outlines the </a:t>
            </a:r>
            <a:r>
              <a:rPr lang="en-US" sz="2400" b="1" u="none" strike="noStrike">
                <a:solidFill>
                  <a:srgbClr val="556B7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key milestones</a:t>
            </a:r>
            <a:r>
              <a:rPr lang="en-US" sz="2400" u="none" strike="noStrike">
                <a:solidFill>
                  <a:srgbClr val="556B7A"/>
                </a:solidFill>
                <a:latin typeface="HK Grotesk"/>
                <a:ea typeface="HK Grotesk"/>
                <a:cs typeface="HK Grotesk"/>
                <a:sym typeface="HK Grotesk"/>
              </a:rPr>
              <a:t> achieved throughout the development process. From the initial concept to the final deployment, each phase reflects our commitment to delivering a reliable and user-friendly travel booking application for our users.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619750"/>
            <a:ext cx="4010025" cy="3200400"/>
            <a:chOff x="0" y="0"/>
            <a:chExt cx="5346700" cy="426720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3178C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Data Integration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235075"/>
              <a:ext cx="5346700" cy="303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10"/>
                </a:lnSpc>
                <a:spcBef>
                  <a:spcPct val="0"/>
                </a:spcBef>
              </a:pPr>
              <a:r>
                <a:rPr lang="en-US" sz="2175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Integrating disparate data sources posed a </a:t>
              </a:r>
              <a:r>
                <a:rPr lang="en-US" sz="2175" b="1" u="none" strike="noStrike">
                  <a:solidFill>
                    <a:srgbClr val="556B7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significant challenge</a:t>
              </a:r>
              <a:r>
                <a:rPr lang="en-US" sz="2175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complicating the synchronization of travel information and user data across various platforms within the application architecture.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619750"/>
            <a:ext cx="4010025" cy="3228975"/>
            <a:chOff x="0" y="0"/>
            <a:chExt cx="5346700" cy="430530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3178C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Scalability Issues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273175"/>
              <a:ext cx="5346700" cy="303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10"/>
                </a:lnSpc>
                <a:spcBef>
                  <a:spcPct val="0"/>
                </a:spcBef>
              </a:pPr>
              <a:r>
                <a:rPr lang="en-US" sz="2175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As the user base grows, ensuring that the </a:t>
              </a:r>
              <a:r>
                <a:rPr lang="en-US" sz="2175" b="1" u="none" strike="noStrike">
                  <a:solidFill>
                    <a:srgbClr val="556B7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application scales effectively</a:t>
              </a:r>
              <a:r>
                <a:rPr lang="en-US" sz="2175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while maintaining performance levels required careful planning and testing to handle increased demand on resources.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5619750"/>
            <a:ext cx="4010025" cy="3200400"/>
            <a:chOff x="0" y="0"/>
            <a:chExt cx="5346700" cy="4267200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3178C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Security Considerations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235075"/>
              <a:ext cx="5346700" cy="303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10"/>
                </a:lnSpc>
                <a:spcBef>
                  <a:spcPct val="0"/>
                </a:spcBef>
              </a:pPr>
              <a:r>
                <a:rPr lang="en-US" sz="2175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Protecting user data and ensuring transaction security were paramount, requiring </a:t>
              </a:r>
              <a:r>
                <a:rPr lang="en-US" sz="2175" b="1" u="none" strike="noStrike">
                  <a:solidFill>
                    <a:srgbClr val="556B7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robust security measures</a:t>
              </a:r>
              <a:r>
                <a:rPr lang="en-US" sz="2175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to mitigate risks associated with potential vulnerabilities throughout the application's infrastructure.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1562100"/>
            <a:ext cx="16954500" cy="2209800"/>
            <a:chOff x="0" y="0"/>
            <a:chExt cx="22606000" cy="29464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80975"/>
              <a:ext cx="226060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3178C6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Challenges Faced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387600"/>
              <a:ext cx="226060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3178C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Addressing key project difficulties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43920"/>
            <a:ext cx="6886575" cy="372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3178C6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Future Enhancements for Bharat Yatra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1562945"/>
            <a:ext cx="4010025" cy="2168447"/>
            <a:chOff x="0" y="0"/>
            <a:chExt cx="621258" cy="3359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1258" cy="335949"/>
            </a:xfrm>
            <a:custGeom>
              <a:avLst/>
              <a:gdLst/>
              <a:ahLst/>
              <a:cxnLst/>
              <a:rect l="l" t="t" r="r" b="b"/>
              <a:pathLst>
                <a:path w="621258" h="335949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r="-4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296400" y="4049741"/>
            <a:ext cx="4010025" cy="2191815"/>
            <a:chOff x="0" y="0"/>
            <a:chExt cx="621258" cy="3395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258" cy="339569"/>
            </a:xfrm>
            <a:custGeom>
              <a:avLst/>
              <a:gdLst/>
              <a:ahLst/>
              <a:cxnLst/>
              <a:rect l="l" t="t" r="r" b="b"/>
              <a:pathLst>
                <a:path w="621258" h="339569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r="-3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296400" y="6559904"/>
            <a:ext cx="4010025" cy="2164996"/>
            <a:chOff x="0" y="0"/>
            <a:chExt cx="621258" cy="3354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1258" cy="335415"/>
            </a:xfrm>
            <a:custGeom>
              <a:avLst/>
              <a:gdLst/>
              <a:ahLst/>
              <a:cxnLst/>
              <a:rect l="l" t="t" r="r" b="b"/>
              <a:pathLst>
                <a:path w="621258" h="335415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r="-33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611225" y="1562100"/>
            <a:ext cx="4010025" cy="1619672"/>
            <a:chOff x="0" y="0"/>
            <a:chExt cx="5346700" cy="215956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94363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Tailored travel experiences based on user preferences.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3178C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Personalization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11225" y="4049741"/>
            <a:ext cx="4010025" cy="1618693"/>
            <a:chOff x="0" y="0"/>
            <a:chExt cx="5346700" cy="215825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193057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Support for various languages enhances user accessibility.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3178C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Multi-Language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11225" y="6559904"/>
            <a:ext cx="4010025" cy="1981200"/>
            <a:chOff x="0" y="0"/>
            <a:chExt cx="5346700" cy="264160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193800"/>
              <a:ext cx="5346700" cy="1447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Collaborations with additional travel service providers planned.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3178C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Travel Integration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1697831"/>
            <a:ext cx="6886575" cy="1327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3178C6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Conclusion</a:t>
            </a:r>
          </a:p>
        </p:txBody>
      </p: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296400" y="5314950"/>
            <a:ext cx="6886575" cy="3126025"/>
            <a:chOff x="0" y="0"/>
            <a:chExt cx="9182100" cy="4168033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3178C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Project Impact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93800"/>
              <a:ext cx="9182100" cy="297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 dirty="0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</a:t>
              </a:r>
              <a:r>
                <a:rPr lang="en-US" sz="2400" b="1" u="none" strike="noStrike" dirty="0">
                  <a:solidFill>
                    <a:srgbClr val="556B7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Bharat Yatra</a:t>
              </a:r>
              <a:r>
                <a:rPr lang="en-US" sz="2400" u="none" strike="noStrike" dirty="0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application enhances user travel experiences through seamless booking and personalized recommendations. My technical expertise have delivered an innovative solution for modern travelers, encouraging efficient travel planning.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43920"/>
            <a:ext cx="544830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 dirty="0">
                <a:solidFill>
                  <a:srgbClr val="3178C6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Live Demo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5848350"/>
            <a:ext cx="5448300" cy="2876550"/>
            <a:chOff x="0" y="0"/>
            <a:chExt cx="7264400" cy="3835400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72644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3178C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Interactive Experience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39800"/>
              <a:ext cx="7264400" cy="289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Experience the </a:t>
              </a:r>
              <a:r>
                <a:rPr lang="en-US" sz="2400" b="1" u="none" strike="noStrike">
                  <a:solidFill>
                    <a:srgbClr val="556B7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Bharat Yatra</a:t>
              </a:r>
              <a:r>
                <a:rPr lang="en-US" sz="2400" u="none" strike="noStrike">
                  <a:solidFill>
                    <a:srgbClr val="556B7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application firsthand, showcasing its user-friendly interface, seamless travel booking process, and integrated AI chatbot, enhancing every aspect of travel planning.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0" y="676275"/>
            <a:ext cx="1217295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0" y="9629775"/>
            <a:ext cx="12172950" cy="0"/>
          </a:xfrm>
          <a:prstGeom prst="line">
            <a:avLst/>
          </a:prstGeom>
          <a:ln w="19050" cap="flat">
            <a:solidFill>
              <a:srgbClr val="3178C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E3776FE-C5AF-ADCA-3281-DE2D68C716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4799" y="728047"/>
            <a:ext cx="6549713" cy="316393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9399C6F-7727-DF0A-2D03-D3E1F9AA42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4799" y="3865235"/>
            <a:ext cx="6549713" cy="316051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B7775B0-2C5B-5457-6EAE-C75614A909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6573" y="7027798"/>
            <a:ext cx="6552504" cy="3168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BF73F8-110B-5820-DA70-2C3B3FC038B5}"/>
              </a:ext>
            </a:extLst>
          </p:cNvPr>
          <p:cNvSpPr txBox="1"/>
          <p:nvPr/>
        </p:nvSpPr>
        <p:spPr>
          <a:xfrm>
            <a:off x="3829050" y="5295900"/>
            <a:ext cx="10629900" cy="166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19600" spc="-192" dirty="0">
                <a:solidFill>
                  <a:srgbClr val="3178C6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06985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387</Words>
  <Application>Microsoft Office PowerPoint</Application>
  <PresentationFormat>Custom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HK Grotesk Semi-Bold</vt:lpstr>
      <vt:lpstr>Arial</vt:lpstr>
      <vt:lpstr>HK Grotesk Bold</vt:lpstr>
      <vt:lpstr>HK Grotesk</vt:lpstr>
      <vt:lpstr>Calibri</vt:lpstr>
      <vt:lpstr>Noto Serif Display ExtraCondensed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 Lucky</dc:title>
  <cp:lastModifiedBy>Lucky Raj</cp:lastModifiedBy>
  <cp:revision>5</cp:revision>
  <dcterms:created xsi:type="dcterms:W3CDTF">2006-08-16T00:00:00Z</dcterms:created>
  <dcterms:modified xsi:type="dcterms:W3CDTF">2026-02-27T08:06:52Z</dcterms:modified>
  <dc:identifier>DAHCOWmtAf4</dc:identifier>
</cp:coreProperties>
</file>